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Roboto Slab"/>
      <p:regular r:id="rId21"/>
      <p:bold r:id="rId22"/>
    </p:embeddedFont>
    <p:embeddedFont>
      <p:font typeface="Robo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obotoSlab-bold.fntdata"/><Relationship Id="rId21" Type="http://schemas.openxmlformats.org/officeDocument/2006/relationships/font" Target="fonts/RobotoSlab-regular.fntdata"/><Relationship Id="rId24" Type="http://schemas.openxmlformats.org/officeDocument/2006/relationships/font" Target="fonts/Roboto-bold.fntdata"/><Relationship Id="rId23" Type="http://schemas.openxmlformats.org/officeDocument/2006/relationships/font" Target="fonts/Robo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boldItalic.fntdata"/><Relationship Id="rId25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a96aa06aae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a96aa06aae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96aa06aae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96aa06aae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96aa06aae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96aa06aae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96aa06aae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a96aa06aae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96aa06aae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96aa06aae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96aa06aae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96aa06aae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96aa06aae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a96aa06aae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96aa06aae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96aa06aae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96aa06aae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a96aa06aae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96aa06aae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a96aa06aae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96aa06aae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a96aa06aae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96aa06aae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a96aa06aae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96aa06aae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a96aa06aae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96aa06aae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a96aa06aae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gif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FollowUp!</a:t>
            </a:r>
            <a:endParaRPr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Group 12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HB MM RS VY</a:t>
            </a:r>
            <a:endParaRPr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Main Problem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Calendar apps take too long to </a:t>
            </a:r>
            <a:r>
              <a:rPr lang="en-GB"/>
              <a:t>set up</a:t>
            </a:r>
            <a:br>
              <a:rPr lang="en-GB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They don’t directly address the user’s needs</a:t>
            </a:r>
            <a:br>
              <a:rPr lang="en-GB"/>
            </a:br>
            <a:r>
              <a:rPr lang="en-GB"/>
              <a:t>i</a:t>
            </a:r>
            <a:r>
              <a:rPr lang="en-GB"/>
              <a:t>n an easy way</a:t>
            </a:r>
            <a:br>
              <a:rPr lang="en-GB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We need a calendar that works </a:t>
            </a:r>
            <a:r>
              <a:rPr i="1" lang="en-GB"/>
              <a:t>for</a:t>
            </a:r>
            <a:r>
              <a:rPr lang="en-GB"/>
              <a:t> us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Our Solution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87900" y="2244875"/>
            <a:ext cx="4944600" cy="12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-GB" sz="3750"/>
              <a:t>Smart Calendar with AI Integration</a:t>
            </a:r>
            <a:br>
              <a:rPr lang="en-GB"/>
            </a:br>
            <a:endParaRPr/>
          </a:p>
        </p:txBody>
      </p:sp>
      <p:pic>
        <p:nvPicPr>
          <p:cNvPr id="82" name="Google Shape;82;p16" title="calendar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7975" y="1645975"/>
            <a:ext cx="1851549" cy="1851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6" title="artificial-intelligenc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15750" y="2397075"/>
            <a:ext cx="976000" cy="97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Tech Stack and</a:t>
            </a:r>
            <a:br>
              <a:rPr lang="en-GB"/>
            </a:br>
            <a:r>
              <a:rPr lang="en-GB"/>
              <a:t>Architectural Choices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Tech Stack</a:t>
            </a:r>
            <a:endParaRPr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Python Core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861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NiceGUI Front-End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861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Sqlite3 Database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861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Tesseract OCR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861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Gemini LLM</a:t>
            </a:r>
            <a:endParaRPr/>
          </a:p>
        </p:txBody>
      </p:sp>
      <p:pic>
        <p:nvPicPr>
          <p:cNvPr descr="a blue and yellow python logo with a white circle in the middle on a white background . (provided by Tenor)" id="95" name="Google Shape;9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3250" y="624822"/>
            <a:ext cx="917400" cy="917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Logo nicegui black.svg - Wikimedia Commons" id="96" name="Google Shape;9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4850" y="1645451"/>
            <a:ext cx="722125" cy="1029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Google Gemini logo.svg - Wikimedia Commons" id="97" name="Google Shape;97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27350" y="608250"/>
            <a:ext cx="2107099" cy="7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27350" y="2778024"/>
            <a:ext cx="3273300" cy="175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52663" y="1701437"/>
            <a:ext cx="1947987" cy="91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Architectural/Design Choices</a:t>
            </a:r>
            <a:endParaRPr/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87900" y="1591125"/>
            <a:ext cx="23025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MVC Architecture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Offers: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HL Modularity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Scalability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Maintainability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Event Driven</a:t>
            </a:r>
            <a:endParaRPr/>
          </a:p>
        </p:txBody>
      </p:sp>
      <p:sp>
        <p:nvSpPr>
          <p:cNvPr id="106" name="Google Shape;106;p19"/>
          <p:cNvSpPr/>
          <p:nvPr/>
        </p:nvSpPr>
        <p:spPr>
          <a:xfrm>
            <a:off x="3545480" y="2188348"/>
            <a:ext cx="1907700" cy="567000"/>
          </a:xfrm>
          <a:prstGeom prst="rect">
            <a:avLst/>
          </a:prstGeom>
          <a:solidFill>
            <a:srgbClr val="FFFFFF"/>
          </a:solidFill>
          <a:ln cap="flat" cmpd="sng" w="84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050" lIns="81050" spcFirstLastPara="1" rIns="81050" wrap="square" tIns="81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41"/>
              <a:t>NiceGUI (View)</a:t>
            </a:r>
            <a:endParaRPr sz="1241"/>
          </a:p>
        </p:txBody>
      </p:sp>
      <p:sp>
        <p:nvSpPr>
          <p:cNvPr id="107" name="Google Shape;107;p19"/>
          <p:cNvSpPr/>
          <p:nvPr/>
        </p:nvSpPr>
        <p:spPr>
          <a:xfrm>
            <a:off x="3545480" y="3517138"/>
            <a:ext cx="1907700" cy="567000"/>
          </a:xfrm>
          <a:prstGeom prst="rect">
            <a:avLst/>
          </a:prstGeom>
          <a:solidFill>
            <a:srgbClr val="FFFFFF"/>
          </a:solidFill>
          <a:ln cap="flat" cmpd="sng" w="84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050" lIns="81050" spcFirstLastPara="1" rIns="81050" wrap="square" tIns="81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41"/>
              <a:t>Sqlite3/Python (Model)</a:t>
            </a:r>
            <a:endParaRPr sz="1241"/>
          </a:p>
        </p:txBody>
      </p:sp>
      <p:sp>
        <p:nvSpPr>
          <p:cNvPr id="108" name="Google Shape;108;p19"/>
          <p:cNvSpPr/>
          <p:nvPr/>
        </p:nvSpPr>
        <p:spPr>
          <a:xfrm>
            <a:off x="6695295" y="2415047"/>
            <a:ext cx="1907700" cy="1385700"/>
          </a:xfrm>
          <a:prstGeom prst="rect">
            <a:avLst/>
          </a:prstGeom>
          <a:solidFill>
            <a:srgbClr val="FFFFFF"/>
          </a:solidFill>
          <a:ln cap="flat" cmpd="sng" w="84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050" lIns="81050" spcFirstLastPara="1" rIns="81050" wrap="square" tIns="81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41"/>
              <a:t>Python Backend</a:t>
            </a:r>
            <a:endParaRPr sz="124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41"/>
              <a:t>Gemini LLM</a:t>
            </a:r>
            <a:endParaRPr sz="124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41"/>
              <a:t>(Controller)</a:t>
            </a:r>
            <a:endParaRPr sz="1241"/>
          </a:p>
        </p:txBody>
      </p:sp>
      <p:cxnSp>
        <p:nvCxnSpPr>
          <p:cNvPr id="109" name="Google Shape;109;p19"/>
          <p:cNvCxnSpPr>
            <a:stCxn id="106" idx="2"/>
            <a:endCxn id="107" idx="0"/>
          </p:cNvCxnSpPr>
          <p:nvPr/>
        </p:nvCxnSpPr>
        <p:spPr>
          <a:xfrm>
            <a:off x="4499330" y="2755348"/>
            <a:ext cx="0" cy="761700"/>
          </a:xfrm>
          <a:prstGeom prst="straightConnector1">
            <a:avLst/>
          </a:prstGeom>
          <a:noFill/>
          <a:ln cap="flat" cmpd="sng" w="33775">
            <a:solidFill>
              <a:srgbClr val="98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0" name="Google Shape;110;p19"/>
          <p:cNvCxnSpPr>
            <a:stCxn id="107" idx="2"/>
            <a:endCxn id="108" idx="2"/>
          </p:cNvCxnSpPr>
          <p:nvPr/>
        </p:nvCxnSpPr>
        <p:spPr>
          <a:xfrm rot="-5400000">
            <a:off x="5932430" y="2367538"/>
            <a:ext cx="283500" cy="3149700"/>
          </a:xfrm>
          <a:prstGeom prst="curvedConnector3">
            <a:avLst>
              <a:gd fmla="val -83995" name="adj1"/>
            </a:avLst>
          </a:prstGeom>
          <a:noFill/>
          <a:ln cap="flat" cmpd="sng" w="33775">
            <a:solidFill>
              <a:srgbClr val="98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1" name="Google Shape;111;p19"/>
          <p:cNvCxnSpPr>
            <a:stCxn id="108" idx="0"/>
            <a:endCxn id="106" idx="0"/>
          </p:cNvCxnSpPr>
          <p:nvPr/>
        </p:nvCxnSpPr>
        <p:spPr>
          <a:xfrm flipH="1" rot="5400000">
            <a:off x="5960895" y="726797"/>
            <a:ext cx="226800" cy="3149700"/>
          </a:xfrm>
          <a:prstGeom prst="curvedConnector3">
            <a:avLst>
              <a:gd fmla="val 204949" name="adj1"/>
            </a:avLst>
          </a:prstGeom>
          <a:noFill/>
          <a:ln cap="flat" cmpd="sng" w="33775">
            <a:solidFill>
              <a:srgbClr val="98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12" name="Google Shape;112;p19"/>
          <p:cNvSpPr txBox="1"/>
          <p:nvPr/>
        </p:nvSpPr>
        <p:spPr>
          <a:xfrm>
            <a:off x="2834575" y="2958856"/>
            <a:ext cx="15207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050" lIns="81050" spcFirstLastPara="1" rIns="81050" wrap="square" tIns="81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41">
                <a:solidFill>
                  <a:srgbClr val="FFFF00"/>
                </a:solidFill>
              </a:rPr>
              <a:t>provides updates</a:t>
            </a:r>
            <a:endParaRPr sz="1241">
              <a:solidFill>
                <a:srgbClr val="FFFF00"/>
              </a:solidFill>
            </a:endParaRPr>
          </a:p>
        </p:txBody>
      </p:sp>
      <p:sp>
        <p:nvSpPr>
          <p:cNvPr id="113" name="Google Shape;113;p19"/>
          <p:cNvSpPr txBox="1"/>
          <p:nvPr/>
        </p:nvSpPr>
        <p:spPr>
          <a:xfrm>
            <a:off x="5429243" y="4253394"/>
            <a:ext cx="12900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050" lIns="81050" spcFirstLastPara="1" rIns="81050" wrap="square" tIns="81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41">
                <a:solidFill>
                  <a:srgbClr val="FFFF00"/>
                </a:solidFill>
              </a:rPr>
              <a:t>manipulates</a:t>
            </a:r>
            <a:endParaRPr sz="1241">
              <a:solidFill>
                <a:srgbClr val="FFFF00"/>
              </a:solidFill>
            </a:endParaRPr>
          </a:p>
        </p:txBody>
      </p:sp>
      <p:sp>
        <p:nvSpPr>
          <p:cNvPr id="114" name="Google Shape;114;p19"/>
          <p:cNvSpPr txBox="1"/>
          <p:nvPr/>
        </p:nvSpPr>
        <p:spPr>
          <a:xfrm>
            <a:off x="5261296" y="1652860"/>
            <a:ext cx="16257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050" lIns="81050" spcFirstLastPara="1" rIns="81050" wrap="square" tIns="81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41">
                <a:solidFill>
                  <a:srgbClr val="FFFF00"/>
                </a:solidFill>
              </a:rPr>
              <a:t>provides input</a:t>
            </a:r>
            <a:endParaRPr sz="1241">
              <a:solidFill>
                <a:srgbClr val="FFFF00"/>
              </a:solidFill>
            </a:endParaRPr>
          </a:p>
        </p:txBody>
      </p:sp>
      <p:cxnSp>
        <p:nvCxnSpPr>
          <p:cNvPr id="115" name="Google Shape;115;p19"/>
          <p:cNvCxnSpPr>
            <a:endCxn id="106" idx="3"/>
          </p:cNvCxnSpPr>
          <p:nvPr/>
        </p:nvCxnSpPr>
        <p:spPr>
          <a:xfrm rot="10800000">
            <a:off x="5453180" y="2471848"/>
            <a:ext cx="1242000" cy="274200"/>
          </a:xfrm>
          <a:prstGeom prst="straightConnector1">
            <a:avLst/>
          </a:prstGeom>
          <a:noFill/>
          <a:ln cap="flat" cmpd="sng" w="25325">
            <a:solidFill>
              <a:srgbClr val="FF9900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16" name="Google Shape;116;p19"/>
          <p:cNvSpPr txBox="1"/>
          <p:nvPr/>
        </p:nvSpPr>
        <p:spPr>
          <a:xfrm>
            <a:off x="5585311" y="2951266"/>
            <a:ext cx="10917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050" lIns="81050" spcFirstLastPara="1" rIns="81050" wrap="square" tIns="81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41">
                <a:solidFill>
                  <a:srgbClr val="FFFF00"/>
                </a:solidFill>
              </a:rPr>
              <a:t>feedback</a:t>
            </a:r>
            <a:endParaRPr sz="1241">
              <a:solidFill>
                <a:srgbClr val="FFFF00"/>
              </a:solidFill>
            </a:endParaRPr>
          </a:p>
        </p:txBody>
      </p:sp>
      <p:cxnSp>
        <p:nvCxnSpPr>
          <p:cNvPr id="117" name="Google Shape;117;p19"/>
          <p:cNvCxnSpPr>
            <a:stCxn id="107" idx="3"/>
          </p:cNvCxnSpPr>
          <p:nvPr/>
        </p:nvCxnSpPr>
        <p:spPr>
          <a:xfrm flipH="1" rot="10800000">
            <a:off x="5453180" y="3511138"/>
            <a:ext cx="1224000" cy="289500"/>
          </a:xfrm>
          <a:prstGeom prst="straightConnector1">
            <a:avLst/>
          </a:prstGeom>
          <a:noFill/>
          <a:ln cap="flat" cmpd="sng" w="25325">
            <a:solidFill>
              <a:srgbClr val="FF9900"/>
            </a:solidFill>
            <a:prstDash val="dash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Demo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Code Functionality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Challenging Code Sections</a:t>
            </a:r>
            <a:endParaRPr/>
          </a:p>
        </p:txBody>
      </p:sp>
      <p:sp>
        <p:nvSpPr>
          <p:cNvPr id="133" name="Google Shape;133;p22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Main Calendar Display</a:t>
            </a:r>
            <a:br>
              <a:rPr lang="en-GB"/>
            </a:br>
            <a:r>
              <a:rPr lang="en-GB"/>
              <a:t>- Day Card and Modal Display</a:t>
            </a:r>
            <a:br>
              <a:rPr lang="en-GB"/>
            </a:br>
            <a:r>
              <a:rPr lang="en-GB"/>
              <a:t>- Recurring Event Fetching/Display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OCR / LLM Conversion</a:t>
            </a:r>
            <a:br>
              <a:rPr b="1" lang="en-GB"/>
            </a:br>
            <a:r>
              <a:rPr lang="en-GB"/>
              <a:t>- Extracting text from images using OCR</a:t>
            </a:r>
            <a:br>
              <a:rPr lang="en-GB"/>
            </a:br>
            <a:r>
              <a:rPr lang="en-GB"/>
              <a:t>- Translating outputs into our event structure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/>
              <a:t>Database Functions</a:t>
            </a:r>
            <a:br>
              <a:rPr b="1" lang="en-GB"/>
            </a:br>
            <a:r>
              <a:rPr b="1" lang="en-GB"/>
              <a:t>-</a:t>
            </a:r>
            <a:r>
              <a:rPr lang="en-GB"/>
              <a:t> Passing Events to other screens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Re-Scoping</a:t>
            </a:r>
            <a:endParaRPr/>
          </a:p>
        </p:txBody>
      </p:sp>
      <p:sp>
        <p:nvSpPr>
          <p:cNvPr id="139" name="Google Shape;139;p23"/>
          <p:cNvSpPr txBox="1"/>
          <p:nvPr>
            <p:ph idx="1" type="body"/>
          </p:nvPr>
        </p:nvSpPr>
        <p:spPr>
          <a:xfrm>
            <a:off x="387900" y="1489825"/>
            <a:ext cx="41841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Reduced Features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AI Assistant</a:t>
            </a:r>
            <a:br>
              <a:rPr b="1" lang="en-GB"/>
            </a:b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Alerts</a:t>
            </a:r>
            <a:endParaRPr/>
          </a:p>
        </p:txBody>
      </p:sp>
      <p:sp>
        <p:nvSpPr>
          <p:cNvPr id="140" name="Google Shape;140;p23"/>
          <p:cNvSpPr txBox="1"/>
          <p:nvPr>
            <p:ph idx="1" type="body"/>
          </p:nvPr>
        </p:nvSpPr>
        <p:spPr>
          <a:xfrm>
            <a:off x="4572000" y="1489825"/>
            <a:ext cx="41841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Removed Features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Conflict Detection</a:t>
            </a:r>
            <a:br>
              <a:rPr lang="en-GB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UI Clarity / Unique Style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Challenges and Lessons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Main Challenges</a:t>
            </a:r>
            <a:endParaRPr/>
          </a:p>
        </p:txBody>
      </p:sp>
      <p:sp>
        <p:nvSpPr>
          <p:cNvPr id="151" name="Google Shape;151;p2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Scoping and Deadline Management</a:t>
            </a:r>
            <a:endParaRPr b="1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Some features beyond course scope</a:t>
            </a:r>
            <a:br>
              <a:rPr lang="en-GB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Troubleshooting and Bug Testing delayed progress greatly</a:t>
            </a:r>
            <a:br>
              <a:rPr lang="en-GB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Miscommunications about deadlines</a:t>
            </a:r>
            <a:endParaRPr/>
          </a:p>
        </p:txBody>
      </p:sp>
      <p:sp>
        <p:nvSpPr>
          <p:cNvPr id="152" name="Google Shape;152;p2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Database Functionality and Consistency</a:t>
            </a:r>
            <a:endParaRPr b="1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Which functions are needed</a:t>
            </a:r>
            <a:br>
              <a:rPr lang="en-GB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Which fields are needed</a:t>
            </a:r>
            <a:br>
              <a:rPr lang="en-GB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Query and Function complexity</a:t>
            </a:r>
            <a:br>
              <a:rPr lang="en-GB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Inconsistent methods of editing events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Future Lessons</a:t>
            </a:r>
            <a:endParaRPr/>
          </a:p>
        </p:txBody>
      </p:sp>
      <p:sp>
        <p:nvSpPr>
          <p:cNvPr id="158" name="Google Shape;158;p26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Better Time Dedication</a:t>
            </a:r>
            <a:br>
              <a:rPr lang="en-GB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Realistic Time Boxing</a:t>
            </a:r>
            <a:br>
              <a:rPr lang="en-GB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Better Communication</a:t>
            </a:r>
            <a:br>
              <a:rPr lang="en-GB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Stronger Planning</a:t>
            </a:r>
            <a:br>
              <a:rPr lang="en-GB"/>
            </a:b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7"/>
          <p:cNvSpPr txBox="1"/>
          <p:nvPr>
            <p:ph type="title"/>
          </p:nvPr>
        </p:nvSpPr>
        <p:spPr>
          <a:xfrm>
            <a:off x="387900" y="16858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